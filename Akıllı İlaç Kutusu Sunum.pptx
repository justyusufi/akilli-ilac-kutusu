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>
        <p:scale>
          <a:sx n="75" d="100"/>
          <a:sy n="75" d="100"/>
        </p:scale>
        <p:origin x="800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B358DC-33D3-12D2-57D9-1240ABFD1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123FC55-E5B7-F13B-3CAE-E5B8E05B2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18DCE1F-70A7-AD56-B0AE-F25E7B767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DE4324C-BACD-E7EB-6307-B79E6969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2F3086-2A9D-AD77-EC6C-8005BD12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6346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75C85E-2794-4FD5-FC80-89B8AB077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446312-0CCF-4F5A-B15E-BF8F8C3AC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54E1BAD-C644-39E6-D62B-6F28B1C7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8BADEB6-D1BE-A46D-CD1B-CB0E83ED9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ED87ED5-0161-70CF-DEAE-374F79B9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98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7390FA-0A16-405F-E3D6-3B87B984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C1AE0E3-5B19-3C21-271A-9E0050F66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86F9EC1-5991-7285-7A67-F4211FC64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61D009F-FF15-F1C0-BC08-B0E4D667C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237F84C-65C5-51E9-27BE-4A4746DA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7584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1086A9C-786C-7AD7-1237-28283C663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156BF59-9641-323F-F6EB-D975906A6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DFA7A94-05C2-4468-5743-96496F51A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64BA0BD-E1D7-AD96-F148-F472AD79B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7D7F421-0182-401C-C313-769135516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0AD9D02-F5BD-4588-0BBC-DF7953A0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118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88F9749-89E7-62F2-0655-CB46AFECF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BC320C8-97BD-C9D4-D12C-428DAA5DE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5EA8DFD-8485-4697-6F12-1A6A7E178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71F2B7F-0241-1EC8-B98D-0EEB5F45E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2B30A7E-A17A-B5D6-3DE6-47C7B7F92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64D35383-B7E0-DFB3-99B8-4728B5858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C433AE8-68C3-D22E-6607-96702B246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13DCEB83-D052-0F19-DD1E-861455CA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8281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07829E-75C9-0849-85CE-BA7D3606D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C9C0C369-D23D-3B95-F290-A90150B9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C87FF6A-7382-3998-1878-84752DE7D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418D278-9DFD-75E4-3873-3DA2FE482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6683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F202B66-4D97-0B70-E3FF-7B087C438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4FF366B8-3441-D79D-48D7-6BA614D7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E4E317D-4AD7-25C6-7767-CA026278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6397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16B260-196D-AEDB-D8F1-0440EB8E8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A3E440-76C4-F817-E6AB-118C3414A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7962C52-CF91-802C-5045-0535E6E05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AC3A277-B1CB-014D-D111-6B1F2B56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FA66423-8F6F-7995-9C32-7DE900636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2635515-FA58-57DA-2F55-1BC613EB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631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EDA8C9-E1FA-4966-D79C-9F309F459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21BC85C-B7DF-6512-933D-CA58D4EA5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58E6684-E195-DD49-5B4F-F2EC89B32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51D6B21-C955-DB4F-46F6-4B0A6A63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EE15D38-D4AB-5C32-F6B6-320FDC97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C9DB5C1-1144-CBDA-E0A6-66CA5E11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9389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FBEDAB-0F3B-DE11-8A1D-724FD402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2668C9D-F087-3CC2-004F-FEAF094FA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F8F918D-5CB2-CFC9-CE08-39AF4F6F1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DFC177E-61EE-05B0-3FEC-28F67165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751B0FA-BB24-17AD-92B2-99088363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36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A51AE0EC-F980-2FEB-BA86-17BBDDEAF4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FB7DB21-8A6B-D023-62E3-61CF1548B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0066381-3B0F-891A-08FD-C1E56A9A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3C3C1DE-F1CD-3D1D-E064-2B13124F9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5568466-A58F-1AAF-3175-D9DE590D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104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589BE12-0F37-BB8B-7366-F36A9C7D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0A0FB7D-7DDF-0080-094C-4FAF9E6B8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566BBFA-F3EF-23D5-A6CF-E0355ED56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45F71-B000-4051-9A51-F86F00B71B62}" type="datetimeFigureOut">
              <a:rPr lang="tr-TR" smtClean="0"/>
              <a:t>7.02.2026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9A882E6-D608-26DF-FCC5-CBDACB0A5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EB34F5F-6E21-EC68-C980-A3325F3A9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8457A-2870-426D-B297-C5B78EEC1E9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635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342EF9-D6F1-5416-5C71-F95013D2C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041" y="570177"/>
            <a:ext cx="7139914" cy="1277407"/>
          </a:xfrm>
        </p:spPr>
        <p:txBody>
          <a:bodyPr>
            <a:noAutofit/>
          </a:bodyPr>
          <a:lstStyle/>
          <a:p>
            <a:r>
              <a:rPr lang="tr-TR" sz="6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Akıllı İlaç Kutusu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AC36342-51E6-A32F-7BBD-E54BFBE6A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910" y="59268"/>
            <a:ext cx="2506133" cy="2506133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C2312F17-F22C-1704-EEE7-150A2148C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97" y="241829"/>
            <a:ext cx="1934104" cy="1934104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4950D640-66DD-60B4-B63F-2DA34EC3A786}"/>
              </a:ext>
            </a:extLst>
          </p:cNvPr>
          <p:cNvSpPr txBox="1"/>
          <p:nvPr/>
        </p:nvSpPr>
        <p:spPr>
          <a:xfrm>
            <a:off x="3940408" y="2175933"/>
            <a:ext cx="4311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/>
              <a:t>Takım Adı: Takım Şifa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E3035205-8B90-1679-8155-A0F80206BB9C}"/>
              </a:ext>
            </a:extLst>
          </p:cNvPr>
          <p:cNvSpPr txBox="1"/>
          <p:nvPr/>
        </p:nvSpPr>
        <p:spPr>
          <a:xfrm>
            <a:off x="4720164" y="3005143"/>
            <a:ext cx="27516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/>
              <a:t>Yusuf Ege Türedi</a:t>
            </a:r>
          </a:p>
          <a:p>
            <a:r>
              <a:rPr lang="tr-TR" sz="2800" dirty="0"/>
              <a:t>Ozan Çakmakçı</a:t>
            </a:r>
          </a:p>
          <a:p>
            <a:r>
              <a:rPr lang="tr-TR" sz="2800" dirty="0"/>
              <a:t>Bilal Ekrem Öz</a:t>
            </a:r>
          </a:p>
        </p:txBody>
      </p:sp>
    </p:spTree>
    <p:extLst>
      <p:ext uri="{BB962C8B-B14F-4D97-AF65-F5344CB8AC3E}">
        <p14:creationId xmlns:p14="http://schemas.microsoft.com/office/powerpoint/2010/main" val="120128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Resim 28">
            <a:extLst>
              <a:ext uri="{FF2B5EF4-FFF2-40B4-BE49-F238E27FC236}">
                <a16:creationId xmlns:a16="http://schemas.microsoft.com/office/drawing/2014/main" id="{7382EF7E-827D-C473-C576-3EE05EEAD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6858000"/>
            <a:ext cx="12192000" cy="6870700"/>
          </a:xfrm>
          <a:prstGeom prst="rect">
            <a:avLst/>
          </a:prstGeom>
        </p:spPr>
      </p:pic>
      <p:sp>
        <p:nvSpPr>
          <p:cNvPr id="4" name="Akış Çizelgesi: Bağlayıcı 3">
            <a:extLst>
              <a:ext uri="{FF2B5EF4-FFF2-40B4-BE49-F238E27FC236}">
                <a16:creationId xmlns:a16="http://schemas.microsoft.com/office/drawing/2014/main" id="{7C8CD0BD-7024-3607-976A-0A290599E51B}"/>
              </a:ext>
            </a:extLst>
          </p:cNvPr>
          <p:cNvSpPr/>
          <p:nvPr/>
        </p:nvSpPr>
        <p:spPr>
          <a:xfrm>
            <a:off x="67971" y="1986825"/>
            <a:ext cx="2884349" cy="2884349"/>
          </a:xfrm>
          <a:prstGeom prst="flowChartConnector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grpSp>
        <p:nvGrpSpPr>
          <p:cNvPr id="13" name="Grup 12">
            <a:extLst>
              <a:ext uri="{FF2B5EF4-FFF2-40B4-BE49-F238E27FC236}">
                <a16:creationId xmlns:a16="http://schemas.microsoft.com/office/drawing/2014/main" id="{1B7E20EB-78A7-0481-F126-F6DF171BDF2E}"/>
              </a:ext>
            </a:extLst>
          </p:cNvPr>
          <p:cNvGrpSpPr/>
          <p:nvPr/>
        </p:nvGrpSpPr>
        <p:grpSpPr>
          <a:xfrm>
            <a:off x="-3264316" y="-307613"/>
            <a:ext cx="7675005" cy="7473226"/>
            <a:chOff x="-3264316" y="-307613"/>
            <a:chExt cx="7675005" cy="7473226"/>
          </a:xfrm>
          <a:solidFill>
            <a:schemeClr val="bg1">
              <a:alpha val="65000"/>
            </a:schemeClr>
          </a:solidFill>
        </p:grpSpPr>
        <p:sp>
          <p:nvSpPr>
            <p:cNvPr id="7" name="Akış Çizelgesi: Bağlayıcı 6">
              <a:extLst>
                <a:ext uri="{FF2B5EF4-FFF2-40B4-BE49-F238E27FC236}">
                  <a16:creationId xmlns:a16="http://schemas.microsoft.com/office/drawing/2014/main" id="{E61E57EE-2BEF-79A3-3653-11234D78E224}"/>
                </a:ext>
              </a:extLst>
            </p:cNvPr>
            <p:cNvSpPr/>
            <p:nvPr/>
          </p:nvSpPr>
          <p:spPr>
            <a:xfrm>
              <a:off x="-3264316" y="-307613"/>
              <a:ext cx="7473226" cy="7473226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Akış Çizelgesi: Bağlayıcı 7">
              <a:extLst>
                <a:ext uri="{FF2B5EF4-FFF2-40B4-BE49-F238E27FC236}">
                  <a16:creationId xmlns:a16="http://schemas.microsoft.com/office/drawing/2014/main" id="{2CE0197B-AA35-5587-4EC9-76D1D2C55121}"/>
                </a:ext>
              </a:extLst>
            </p:cNvPr>
            <p:cNvSpPr/>
            <p:nvPr/>
          </p:nvSpPr>
          <p:spPr>
            <a:xfrm>
              <a:off x="3716867" y="1785046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9" name="Akış Çizelgesi: Bağlayıcı 8">
              <a:extLst>
                <a:ext uri="{FF2B5EF4-FFF2-40B4-BE49-F238E27FC236}">
                  <a16:creationId xmlns:a16="http://schemas.microsoft.com/office/drawing/2014/main" id="{3DD1943F-A4A1-462D-A077-78F0C118D7AD}"/>
                </a:ext>
              </a:extLst>
            </p:cNvPr>
            <p:cNvSpPr/>
            <p:nvPr/>
          </p:nvSpPr>
          <p:spPr>
            <a:xfrm>
              <a:off x="4007131" y="3227220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0" name="Akış Çizelgesi: Bağlayıcı 9">
              <a:extLst>
                <a:ext uri="{FF2B5EF4-FFF2-40B4-BE49-F238E27FC236}">
                  <a16:creationId xmlns:a16="http://schemas.microsoft.com/office/drawing/2014/main" id="{5C562EE2-B70E-2992-A174-C64470619E84}"/>
                </a:ext>
              </a:extLst>
            </p:cNvPr>
            <p:cNvSpPr/>
            <p:nvPr/>
          </p:nvSpPr>
          <p:spPr>
            <a:xfrm>
              <a:off x="3716867" y="4629901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1" name="Akış Çizelgesi: Bağlayıcı 10">
              <a:extLst>
                <a:ext uri="{FF2B5EF4-FFF2-40B4-BE49-F238E27FC236}">
                  <a16:creationId xmlns:a16="http://schemas.microsoft.com/office/drawing/2014/main" id="{4670FEA3-94CA-0D81-08E6-6704F23D993D}"/>
                </a:ext>
              </a:extLst>
            </p:cNvPr>
            <p:cNvSpPr/>
            <p:nvPr/>
          </p:nvSpPr>
          <p:spPr>
            <a:xfrm>
              <a:off x="3154867" y="5614835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2" name="Akış Çizelgesi: Bağlayıcı 11">
              <a:extLst>
                <a:ext uri="{FF2B5EF4-FFF2-40B4-BE49-F238E27FC236}">
                  <a16:creationId xmlns:a16="http://schemas.microsoft.com/office/drawing/2014/main" id="{B12F9421-89A3-C3B4-5868-4BF65EFEE66F}"/>
                </a:ext>
              </a:extLst>
            </p:cNvPr>
            <p:cNvSpPr/>
            <p:nvPr/>
          </p:nvSpPr>
          <p:spPr>
            <a:xfrm>
              <a:off x="3154867" y="839606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</p:grp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ED43ADBC-EEE9-366A-34A8-3634C5D9ED87}"/>
              </a:ext>
            </a:extLst>
          </p:cNvPr>
          <p:cNvSpPr txBox="1"/>
          <p:nvPr/>
        </p:nvSpPr>
        <p:spPr>
          <a:xfrm>
            <a:off x="2060901" y="1802158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Çözüm Önerisi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5553047F-41B1-F0D2-B539-0E2D6CD4FA11}"/>
              </a:ext>
            </a:extLst>
          </p:cNvPr>
          <p:cNvSpPr txBox="1"/>
          <p:nvPr/>
        </p:nvSpPr>
        <p:spPr>
          <a:xfrm>
            <a:off x="2970136" y="3244333"/>
            <a:ext cx="1023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Farkımız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70B71D83-73F5-472A-9FEA-1527939FA49F}"/>
              </a:ext>
            </a:extLst>
          </p:cNvPr>
          <p:cNvSpPr txBox="1"/>
          <p:nvPr/>
        </p:nvSpPr>
        <p:spPr>
          <a:xfrm>
            <a:off x="2015591" y="5631948"/>
            <a:ext cx="77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Devre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8D5A4AD8-C06B-CF00-5CBA-719C1DF16147}"/>
              </a:ext>
            </a:extLst>
          </p:cNvPr>
          <p:cNvSpPr txBox="1"/>
          <p:nvPr/>
        </p:nvSpPr>
        <p:spPr>
          <a:xfrm>
            <a:off x="573417" y="718218"/>
            <a:ext cx="2884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Problem</a:t>
            </a:r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D904A90B-72CF-1AEE-17B6-A2A94CC8B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1" y="1986823"/>
            <a:ext cx="2884349" cy="2884349"/>
          </a:xfrm>
          <a:prstGeom prst="rect">
            <a:avLst/>
          </a:prstGeom>
        </p:spPr>
      </p:pic>
      <p:sp>
        <p:nvSpPr>
          <p:cNvPr id="26" name="Metin kutusu 25">
            <a:extLst>
              <a:ext uri="{FF2B5EF4-FFF2-40B4-BE49-F238E27FC236}">
                <a16:creationId xmlns:a16="http://schemas.microsoft.com/office/drawing/2014/main" id="{8D4415E1-0088-B607-BFDF-2BA022779123}"/>
              </a:ext>
            </a:extLst>
          </p:cNvPr>
          <p:cNvSpPr txBox="1"/>
          <p:nvPr/>
        </p:nvSpPr>
        <p:spPr>
          <a:xfrm>
            <a:off x="4947113" y="1352149"/>
            <a:ext cx="666084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Bir Sorunumuz Var: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2019´dan bu yana 100 binden fazla insan,</a:t>
            </a: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hatalı ilaç kullanımı sebebiyle hayatını kaybetti…</a:t>
            </a: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Bu kayıpların büyük çoğunluğu ilaçların yanlış dozda veya düzensiz bir şekilde tüketilmesi sebebiyle yaşanıyor.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18A70141-78A0-5353-6B81-3622E33CECE7}"/>
              </a:ext>
            </a:extLst>
          </p:cNvPr>
          <p:cNvSpPr txBox="1"/>
          <p:nvPr/>
        </p:nvSpPr>
        <p:spPr>
          <a:xfrm>
            <a:off x="2721901" y="4508514"/>
            <a:ext cx="970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Detaylı 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Anlatım</a:t>
            </a:r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980C9C89-098A-D8E4-0059-5E5A0B313D82}"/>
              </a:ext>
            </a:extLst>
          </p:cNvPr>
          <p:cNvSpPr txBox="1"/>
          <p:nvPr/>
        </p:nvSpPr>
        <p:spPr>
          <a:xfrm>
            <a:off x="4947112" y="7515561"/>
            <a:ext cx="66608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İşte Çözüm!!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Akıllı Şifa Kutusu;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Dünyanın her yerindeki hastalara, ilaç takibini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kolaylaştırmayı vadediyor. İlacınızın vakti geldiği zaman, bırakın o sizin yerinize hatırlasın.</a:t>
            </a:r>
          </a:p>
        </p:txBody>
      </p:sp>
    </p:spTree>
    <p:extLst>
      <p:ext uri="{BB962C8B-B14F-4D97-AF65-F5344CB8AC3E}">
        <p14:creationId xmlns:p14="http://schemas.microsoft.com/office/powerpoint/2010/main" val="402563103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D01C7-8349-E11A-C3EC-49691827C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Resim 13">
            <a:extLst>
              <a:ext uri="{FF2B5EF4-FFF2-40B4-BE49-F238E27FC236}">
                <a16:creationId xmlns:a16="http://schemas.microsoft.com/office/drawing/2014/main" id="{A5D662A6-9919-CF57-FF9C-198F437C0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6858000"/>
            <a:ext cx="12192001" cy="8120016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22392C3F-AAB7-9840-6F15-EE38D0CBF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2700"/>
            <a:ext cx="12192000" cy="6870700"/>
          </a:xfrm>
          <a:prstGeom prst="rect">
            <a:avLst/>
          </a:prstGeom>
        </p:spPr>
      </p:pic>
      <p:sp>
        <p:nvSpPr>
          <p:cNvPr id="4" name="Akış Çizelgesi: Bağlayıcı 3">
            <a:extLst>
              <a:ext uri="{FF2B5EF4-FFF2-40B4-BE49-F238E27FC236}">
                <a16:creationId xmlns:a16="http://schemas.microsoft.com/office/drawing/2014/main" id="{EB4C5328-5C5C-64A5-167E-245DCD41C5AD}"/>
              </a:ext>
            </a:extLst>
          </p:cNvPr>
          <p:cNvSpPr/>
          <p:nvPr/>
        </p:nvSpPr>
        <p:spPr>
          <a:xfrm>
            <a:off x="67971" y="1986825"/>
            <a:ext cx="2884349" cy="2884349"/>
          </a:xfrm>
          <a:prstGeom prst="flowChartConnector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grpSp>
        <p:nvGrpSpPr>
          <p:cNvPr id="13" name="Grup 12">
            <a:extLst>
              <a:ext uri="{FF2B5EF4-FFF2-40B4-BE49-F238E27FC236}">
                <a16:creationId xmlns:a16="http://schemas.microsoft.com/office/drawing/2014/main" id="{A515B0F7-B3A7-0BC2-8B4E-E8D01B56F003}"/>
              </a:ext>
            </a:extLst>
          </p:cNvPr>
          <p:cNvGrpSpPr/>
          <p:nvPr/>
        </p:nvGrpSpPr>
        <p:grpSpPr>
          <a:xfrm rot="20551667">
            <a:off x="-3264316" y="-307613"/>
            <a:ext cx="7675005" cy="7473226"/>
            <a:chOff x="-3264316" y="-307613"/>
            <a:chExt cx="7675005" cy="7473226"/>
          </a:xfrm>
          <a:solidFill>
            <a:schemeClr val="bg1">
              <a:alpha val="65000"/>
            </a:schemeClr>
          </a:solidFill>
        </p:grpSpPr>
        <p:sp>
          <p:nvSpPr>
            <p:cNvPr id="7" name="Akış Çizelgesi: Bağlayıcı 6">
              <a:extLst>
                <a:ext uri="{FF2B5EF4-FFF2-40B4-BE49-F238E27FC236}">
                  <a16:creationId xmlns:a16="http://schemas.microsoft.com/office/drawing/2014/main" id="{009CF460-613D-C2AB-11D3-BCDCEEB34C64}"/>
                </a:ext>
              </a:extLst>
            </p:cNvPr>
            <p:cNvSpPr/>
            <p:nvPr/>
          </p:nvSpPr>
          <p:spPr>
            <a:xfrm>
              <a:off x="-3264316" y="-307613"/>
              <a:ext cx="7473226" cy="7473226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Akış Çizelgesi: Bağlayıcı 7">
              <a:extLst>
                <a:ext uri="{FF2B5EF4-FFF2-40B4-BE49-F238E27FC236}">
                  <a16:creationId xmlns:a16="http://schemas.microsoft.com/office/drawing/2014/main" id="{1FFEFE78-D5E9-9E36-F133-CD0EA08C5097}"/>
                </a:ext>
              </a:extLst>
            </p:cNvPr>
            <p:cNvSpPr/>
            <p:nvPr/>
          </p:nvSpPr>
          <p:spPr>
            <a:xfrm>
              <a:off x="3716867" y="1785046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9" name="Akış Çizelgesi: Bağlayıcı 8">
              <a:extLst>
                <a:ext uri="{FF2B5EF4-FFF2-40B4-BE49-F238E27FC236}">
                  <a16:creationId xmlns:a16="http://schemas.microsoft.com/office/drawing/2014/main" id="{69AC6431-33B1-4693-D4F2-D3F4666D9916}"/>
                </a:ext>
              </a:extLst>
            </p:cNvPr>
            <p:cNvSpPr/>
            <p:nvPr/>
          </p:nvSpPr>
          <p:spPr>
            <a:xfrm>
              <a:off x="4007131" y="3227220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0" name="Akış Çizelgesi: Bağlayıcı 9">
              <a:extLst>
                <a:ext uri="{FF2B5EF4-FFF2-40B4-BE49-F238E27FC236}">
                  <a16:creationId xmlns:a16="http://schemas.microsoft.com/office/drawing/2014/main" id="{E237EB3B-F58A-DF0A-385C-2CB6950EE3B4}"/>
                </a:ext>
              </a:extLst>
            </p:cNvPr>
            <p:cNvSpPr/>
            <p:nvPr/>
          </p:nvSpPr>
          <p:spPr>
            <a:xfrm>
              <a:off x="3716867" y="4629901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1" name="Akış Çizelgesi: Bağlayıcı 10">
              <a:extLst>
                <a:ext uri="{FF2B5EF4-FFF2-40B4-BE49-F238E27FC236}">
                  <a16:creationId xmlns:a16="http://schemas.microsoft.com/office/drawing/2014/main" id="{2F4DF8FD-6C6C-D449-FC7F-73C114150CDC}"/>
                </a:ext>
              </a:extLst>
            </p:cNvPr>
            <p:cNvSpPr/>
            <p:nvPr/>
          </p:nvSpPr>
          <p:spPr>
            <a:xfrm>
              <a:off x="3154867" y="5614835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2" name="Akış Çizelgesi: Bağlayıcı 11">
              <a:extLst>
                <a:ext uri="{FF2B5EF4-FFF2-40B4-BE49-F238E27FC236}">
                  <a16:creationId xmlns:a16="http://schemas.microsoft.com/office/drawing/2014/main" id="{A60F18D4-EC57-DBE2-F8CD-748A387ED7FC}"/>
                </a:ext>
              </a:extLst>
            </p:cNvPr>
            <p:cNvSpPr/>
            <p:nvPr/>
          </p:nvSpPr>
          <p:spPr>
            <a:xfrm>
              <a:off x="3154867" y="839606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</p:grp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A2ADD34F-63BA-0A8B-35AA-BF7E9C72D6E0}"/>
              </a:ext>
            </a:extLst>
          </p:cNvPr>
          <p:cNvSpPr txBox="1"/>
          <p:nvPr/>
        </p:nvSpPr>
        <p:spPr>
          <a:xfrm>
            <a:off x="2677868" y="2146429"/>
            <a:ext cx="1023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Farkımız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9FF382AC-670D-DF87-DDDA-AEDF48CD022E}"/>
              </a:ext>
            </a:extLst>
          </p:cNvPr>
          <p:cNvSpPr txBox="1"/>
          <p:nvPr/>
        </p:nvSpPr>
        <p:spPr>
          <a:xfrm>
            <a:off x="2983990" y="3428997"/>
            <a:ext cx="970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Detaylı 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Anlatım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C5AECBCB-8266-A321-4FCB-2A08C8A624E8}"/>
              </a:ext>
            </a:extLst>
          </p:cNvPr>
          <p:cNvSpPr txBox="1"/>
          <p:nvPr/>
        </p:nvSpPr>
        <p:spPr>
          <a:xfrm>
            <a:off x="2767485" y="4680763"/>
            <a:ext cx="77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Devre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C0A19D95-8908-A10E-93FD-C9BBF7603DF8}"/>
              </a:ext>
            </a:extLst>
          </p:cNvPr>
          <p:cNvSpPr txBox="1"/>
          <p:nvPr/>
        </p:nvSpPr>
        <p:spPr>
          <a:xfrm>
            <a:off x="-29045" y="747155"/>
            <a:ext cx="3648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Çözüm Önerisi</a:t>
            </a:r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529ACAA3-47BC-4FAE-6CA0-11C696F72A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1" y="1986823"/>
            <a:ext cx="2884349" cy="2884349"/>
          </a:xfrm>
          <a:prstGeom prst="rect">
            <a:avLst/>
          </a:prstGeom>
        </p:spPr>
      </p:pic>
      <p:sp>
        <p:nvSpPr>
          <p:cNvPr id="26" name="Metin kutusu 25">
            <a:extLst>
              <a:ext uri="{FF2B5EF4-FFF2-40B4-BE49-F238E27FC236}">
                <a16:creationId xmlns:a16="http://schemas.microsoft.com/office/drawing/2014/main" id="{C607930A-132C-ADAC-FB44-8D310F5C0893}"/>
              </a:ext>
            </a:extLst>
          </p:cNvPr>
          <p:cNvSpPr txBox="1"/>
          <p:nvPr/>
        </p:nvSpPr>
        <p:spPr>
          <a:xfrm>
            <a:off x="4947113" y="-4058051"/>
            <a:ext cx="666084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Bir Sorunumuz Var: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2019´dan bu yana 100 binden fazla insan,</a:t>
            </a: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hatalı ilaç kullanımı sebebiyle hayatını kaybetti…</a:t>
            </a: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Bu kayıpların büyük çoğunluğu ilaçların yanlış dozda veya düzensiz bir şekilde tüketilmesi sebebiyle yaşanıyor.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9185ABF4-84E9-9504-6D78-A771E81C651E}"/>
              </a:ext>
            </a:extLst>
          </p:cNvPr>
          <p:cNvSpPr txBox="1"/>
          <p:nvPr/>
        </p:nvSpPr>
        <p:spPr>
          <a:xfrm>
            <a:off x="99642" y="-12210"/>
            <a:ext cx="2884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Problem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AD834D44-0E29-4374-5649-6BF32D136B17}"/>
              </a:ext>
            </a:extLst>
          </p:cNvPr>
          <p:cNvSpPr txBox="1"/>
          <p:nvPr/>
        </p:nvSpPr>
        <p:spPr>
          <a:xfrm>
            <a:off x="4923076" y="568881"/>
            <a:ext cx="66608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İşte Çözüm!!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Akıllı Şifa Kutusu;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Dünyanın her yerindeki hastalara, ilaç takibini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kolaylaştırmayı vadediyor. İlacınızın vakti geldiği zaman, bırakın o sizin yerinize hatırlasın.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C0403D67-BC84-E6DF-750A-84911820B0D3}"/>
              </a:ext>
            </a:extLst>
          </p:cNvPr>
          <p:cNvSpPr txBox="1"/>
          <p:nvPr/>
        </p:nvSpPr>
        <p:spPr>
          <a:xfrm>
            <a:off x="4923076" y="7310667"/>
            <a:ext cx="66608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Sıradan Bir Kutu mu?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Akıllı Şifa Kutusu;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Sadece bir ilaç </a:t>
            </a:r>
            <a:r>
              <a:rPr lang="tr-T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organizeri</a:t>
            </a: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 değil, kullanım zamanını hatırlayan, sizi tanıyan ve size değer veren bir mini-eczacıdır.</a:t>
            </a:r>
          </a:p>
        </p:txBody>
      </p:sp>
    </p:spTree>
    <p:extLst>
      <p:ext uri="{BB962C8B-B14F-4D97-AF65-F5344CB8AC3E}">
        <p14:creationId xmlns:p14="http://schemas.microsoft.com/office/powerpoint/2010/main" val="3544429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6366-82C3-529B-7017-AAA00120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Resim 22">
            <a:extLst>
              <a:ext uri="{FF2B5EF4-FFF2-40B4-BE49-F238E27FC236}">
                <a16:creationId xmlns:a16="http://schemas.microsoft.com/office/drawing/2014/main" id="{AF47114E-321C-1AD7-4158-7D6A6E28B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594" y="8142285"/>
            <a:ext cx="5332095" cy="6858000"/>
          </a:xfrm>
          <a:prstGeom prst="rect">
            <a:avLst/>
          </a:prstGeom>
        </p:spPr>
      </p:pic>
      <p:pic>
        <p:nvPicPr>
          <p:cNvPr id="24" name="Resim 23">
            <a:extLst>
              <a:ext uri="{FF2B5EF4-FFF2-40B4-BE49-F238E27FC236}">
                <a16:creationId xmlns:a16="http://schemas.microsoft.com/office/drawing/2014/main" id="{3370FCE0-749A-9BD5-D19D-0BD542D97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974" y="8129709"/>
            <a:ext cx="7570635" cy="7570635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365A83D2-2327-CB87-8B4E-34A8A59C71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6958"/>
            <a:ext cx="12192001" cy="8120016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DF039BA7-85D8-02B5-11D4-601A4E1E5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6879158"/>
            <a:ext cx="12192000" cy="6870700"/>
          </a:xfrm>
          <a:prstGeom prst="rect">
            <a:avLst/>
          </a:prstGeom>
        </p:spPr>
      </p:pic>
      <p:sp>
        <p:nvSpPr>
          <p:cNvPr id="4" name="Akış Çizelgesi: Bağlayıcı 3">
            <a:extLst>
              <a:ext uri="{FF2B5EF4-FFF2-40B4-BE49-F238E27FC236}">
                <a16:creationId xmlns:a16="http://schemas.microsoft.com/office/drawing/2014/main" id="{DB666ABF-A627-45DD-CF27-FBEBD2C80A0D}"/>
              </a:ext>
            </a:extLst>
          </p:cNvPr>
          <p:cNvSpPr/>
          <p:nvPr/>
        </p:nvSpPr>
        <p:spPr>
          <a:xfrm>
            <a:off x="67971" y="1986825"/>
            <a:ext cx="2884349" cy="2884349"/>
          </a:xfrm>
          <a:prstGeom prst="flowChartConnector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grpSp>
        <p:nvGrpSpPr>
          <p:cNvPr id="13" name="Grup 12">
            <a:extLst>
              <a:ext uri="{FF2B5EF4-FFF2-40B4-BE49-F238E27FC236}">
                <a16:creationId xmlns:a16="http://schemas.microsoft.com/office/drawing/2014/main" id="{5D7FD232-598D-F260-746A-E0955C8761F5}"/>
              </a:ext>
            </a:extLst>
          </p:cNvPr>
          <p:cNvGrpSpPr/>
          <p:nvPr/>
        </p:nvGrpSpPr>
        <p:grpSpPr>
          <a:xfrm rot="19335459">
            <a:off x="-3264316" y="-307613"/>
            <a:ext cx="7675005" cy="7473226"/>
            <a:chOff x="-3264316" y="-307613"/>
            <a:chExt cx="7675005" cy="7473226"/>
          </a:xfrm>
          <a:solidFill>
            <a:schemeClr val="bg1">
              <a:alpha val="65000"/>
            </a:schemeClr>
          </a:solidFill>
        </p:grpSpPr>
        <p:sp>
          <p:nvSpPr>
            <p:cNvPr id="7" name="Akış Çizelgesi: Bağlayıcı 6">
              <a:extLst>
                <a:ext uri="{FF2B5EF4-FFF2-40B4-BE49-F238E27FC236}">
                  <a16:creationId xmlns:a16="http://schemas.microsoft.com/office/drawing/2014/main" id="{04DA4F3E-C4C9-77E5-29F2-9FE852E4CFD5}"/>
                </a:ext>
              </a:extLst>
            </p:cNvPr>
            <p:cNvSpPr/>
            <p:nvPr/>
          </p:nvSpPr>
          <p:spPr>
            <a:xfrm>
              <a:off x="-3264316" y="-307613"/>
              <a:ext cx="7473226" cy="7473226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Akış Çizelgesi: Bağlayıcı 7">
              <a:extLst>
                <a:ext uri="{FF2B5EF4-FFF2-40B4-BE49-F238E27FC236}">
                  <a16:creationId xmlns:a16="http://schemas.microsoft.com/office/drawing/2014/main" id="{20391A77-02D6-569B-7D83-AF7B88C62631}"/>
                </a:ext>
              </a:extLst>
            </p:cNvPr>
            <p:cNvSpPr/>
            <p:nvPr/>
          </p:nvSpPr>
          <p:spPr>
            <a:xfrm>
              <a:off x="3716867" y="1785046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9" name="Akış Çizelgesi: Bağlayıcı 8">
              <a:extLst>
                <a:ext uri="{FF2B5EF4-FFF2-40B4-BE49-F238E27FC236}">
                  <a16:creationId xmlns:a16="http://schemas.microsoft.com/office/drawing/2014/main" id="{11063396-BFCF-2003-12C6-40AB810BF923}"/>
                </a:ext>
              </a:extLst>
            </p:cNvPr>
            <p:cNvSpPr/>
            <p:nvPr/>
          </p:nvSpPr>
          <p:spPr>
            <a:xfrm>
              <a:off x="4007131" y="3227220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0" name="Akış Çizelgesi: Bağlayıcı 9">
              <a:extLst>
                <a:ext uri="{FF2B5EF4-FFF2-40B4-BE49-F238E27FC236}">
                  <a16:creationId xmlns:a16="http://schemas.microsoft.com/office/drawing/2014/main" id="{D6C5B55D-B776-29EE-2E0D-9E83BD3FEAAE}"/>
                </a:ext>
              </a:extLst>
            </p:cNvPr>
            <p:cNvSpPr/>
            <p:nvPr/>
          </p:nvSpPr>
          <p:spPr>
            <a:xfrm>
              <a:off x="3716867" y="4629901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1" name="Akış Çizelgesi: Bağlayıcı 10">
              <a:extLst>
                <a:ext uri="{FF2B5EF4-FFF2-40B4-BE49-F238E27FC236}">
                  <a16:creationId xmlns:a16="http://schemas.microsoft.com/office/drawing/2014/main" id="{7EE33014-BF9A-D12C-6E91-08193DD12561}"/>
                </a:ext>
              </a:extLst>
            </p:cNvPr>
            <p:cNvSpPr/>
            <p:nvPr/>
          </p:nvSpPr>
          <p:spPr>
            <a:xfrm>
              <a:off x="3154867" y="5614835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2" name="Akış Çizelgesi: Bağlayıcı 11">
              <a:extLst>
                <a:ext uri="{FF2B5EF4-FFF2-40B4-BE49-F238E27FC236}">
                  <a16:creationId xmlns:a16="http://schemas.microsoft.com/office/drawing/2014/main" id="{06B4E165-4706-AADA-7D3C-4F4C8B9DED53}"/>
                </a:ext>
              </a:extLst>
            </p:cNvPr>
            <p:cNvSpPr/>
            <p:nvPr/>
          </p:nvSpPr>
          <p:spPr>
            <a:xfrm>
              <a:off x="3154867" y="839606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</p:grp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1841D30D-6A5A-F853-D0F6-7B1755293F0F}"/>
              </a:ext>
            </a:extLst>
          </p:cNvPr>
          <p:cNvSpPr txBox="1"/>
          <p:nvPr/>
        </p:nvSpPr>
        <p:spPr>
          <a:xfrm>
            <a:off x="1229143" y="692710"/>
            <a:ext cx="1919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Farkımız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A57B7C19-0876-E2C8-4D63-C66BB817F8E4}"/>
              </a:ext>
            </a:extLst>
          </p:cNvPr>
          <p:cNvSpPr txBox="1"/>
          <p:nvPr/>
        </p:nvSpPr>
        <p:spPr>
          <a:xfrm>
            <a:off x="2817977" y="2084344"/>
            <a:ext cx="970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Detaylı 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Anlatım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A9D68235-15A0-5C6D-0210-557092FF8CCE}"/>
              </a:ext>
            </a:extLst>
          </p:cNvPr>
          <p:cNvSpPr txBox="1"/>
          <p:nvPr/>
        </p:nvSpPr>
        <p:spPr>
          <a:xfrm>
            <a:off x="3139899" y="3577846"/>
            <a:ext cx="77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Devre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138C1B5F-2653-D97B-A3BB-08E3EA192DA8}"/>
              </a:ext>
            </a:extLst>
          </p:cNvPr>
          <p:cNvSpPr txBox="1"/>
          <p:nvPr/>
        </p:nvSpPr>
        <p:spPr>
          <a:xfrm>
            <a:off x="407275" y="131162"/>
            <a:ext cx="1851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Çözüm Önerisi</a:t>
            </a:r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67004492-E4E5-8BDC-8EEE-6C72024F37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1" y="1986823"/>
            <a:ext cx="2884349" cy="2884349"/>
          </a:xfrm>
          <a:prstGeom prst="rect">
            <a:avLst/>
          </a:prstGeom>
        </p:spPr>
      </p:pic>
      <p:sp>
        <p:nvSpPr>
          <p:cNvPr id="26" name="Metin kutusu 25">
            <a:extLst>
              <a:ext uri="{FF2B5EF4-FFF2-40B4-BE49-F238E27FC236}">
                <a16:creationId xmlns:a16="http://schemas.microsoft.com/office/drawing/2014/main" id="{63304A8D-1C08-E2AB-0010-34DFBC3AD494}"/>
              </a:ext>
            </a:extLst>
          </p:cNvPr>
          <p:cNvSpPr txBox="1"/>
          <p:nvPr/>
        </p:nvSpPr>
        <p:spPr>
          <a:xfrm>
            <a:off x="4947113" y="-10924509"/>
            <a:ext cx="666084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Bir Sorunumuz Var: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2019´dan bu yana 100 binden fazla insan,</a:t>
            </a: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hatalı ilaç kullanımı sebebiyle hayatını kaybetti…</a:t>
            </a: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Bu kayıpların büyük çoğunluğu ilaçların yanlış dozda veya düzensiz bir şekilde tüketilmesi sebebiyle yaşanıyor.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2ED96CB-0757-8A7B-5F81-4E57F4182B9B}"/>
              </a:ext>
            </a:extLst>
          </p:cNvPr>
          <p:cNvSpPr txBox="1"/>
          <p:nvPr/>
        </p:nvSpPr>
        <p:spPr>
          <a:xfrm>
            <a:off x="42572" y="-352374"/>
            <a:ext cx="2884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Problem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88C3AB3-7AF0-D3F1-97FE-62D0DB523774}"/>
              </a:ext>
            </a:extLst>
          </p:cNvPr>
          <p:cNvSpPr txBox="1"/>
          <p:nvPr/>
        </p:nvSpPr>
        <p:spPr>
          <a:xfrm>
            <a:off x="4947112" y="542839"/>
            <a:ext cx="66608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Sıradan Bir Kutu mu?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Akıllı Şifa Kutusu;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Sadece bir ilaç </a:t>
            </a:r>
            <a:r>
              <a:rPr lang="tr-T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organizeri</a:t>
            </a: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 değil, kullanım zamanını hatırlayan, sizi tanıyan ve size değer veren bir mini-eczacıdır.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E7C41B2F-637E-8EF4-18A0-AFC9D5E4FF64}"/>
              </a:ext>
            </a:extLst>
          </p:cNvPr>
          <p:cNvSpPr txBox="1"/>
          <p:nvPr/>
        </p:nvSpPr>
        <p:spPr>
          <a:xfrm>
            <a:off x="4947111" y="-6299905"/>
            <a:ext cx="66608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İşte Çözüm!!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Akıllı Şifa Kutusu;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Dünyanın her yerindeki hastalara, ilaç takibini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kolaylaştırmayı vadediyor. İlacınızın vakti geldiği zaman, bırakın o sizin yerinize hatırlasın.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9F3793B1-B26F-D74D-F505-A4DBBD9C5259}"/>
              </a:ext>
            </a:extLst>
          </p:cNvPr>
          <p:cNvSpPr txBox="1"/>
          <p:nvPr/>
        </p:nvSpPr>
        <p:spPr>
          <a:xfrm>
            <a:off x="6095998" y="8350083"/>
            <a:ext cx="50207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Özellikler: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İlaç sayısı ve saatleri özel klavye ile ürüne girilir,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Doğru vakitte öterek ve ışık açıp kapatarak kullanıcıyı bildirir,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Kullanılacak ilacın kapağı açılır.</a:t>
            </a:r>
          </a:p>
        </p:txBody>
      </p:sp>
    </p:spTree>
    <p:extLst>
      <p:ext uri="{BB962C8B-B14F-4D97-AF65-F5344CB8AC3E}">
        <p14:creationId xmlns:p14="http://schemas.microsoft.com/office/powerpoint/2010/main" val="280843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CB654-BE4E-B3B6-1502-677D18AC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Resim 21">
            <a:extLst>
              <a:ext uri="{FF2B5EF4-FFF2-40B4-BE49-F238E27FC236}">
                <a16:creationId xmlns:a16="http://schemas.microsoft.com/office/drawing/2014/main" id="{E3586049-A3EB-AEAB-5395-34F5C5C5A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594" y="-2677"/>
            <a:ext cx="5332095" cy="685800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93C586AC-D0C4-E93D-4EC0-259253A5C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974" y="-15253"/>
            <a:ext cx="7570635" cy="7570635"/>
          </a:xfrm>
          <a:prstGeom prst="rect">
            <a:avLst/>
          </a:prstGeom>
        </p:spPr>
      </p:pic>
      <p:pic>
        <p:nvPicPr>
          <p:cNvPr id="24" name="Resim 23">
            <a:extLst>
              <a:ext uri="{FF2B5EF4-FFF2-40B4-BE49-F238E27FC236}">
                <a16:creationId xmlns:a16="http://schemas.microsoft.com/office/drawing/2014/main" id="{749E84DB-3F11-F107-411A-C1BCC4BDD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1" y="6805993"/>
            <a:ext cx="13493577" cy="6858000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2673B71B-69A2-6806-70A5-5D98CE10F1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8129793"/>
            <a:ext cx="12192001" cy="8120016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5D39FCDB-D7D0-D9FD-86E8-A5AF34E162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15008951"/>
            <a:ext cx="12192000" cy="6870700"/>
          </a:xfrm>
          <a:prstGeom prst="rect">
            <a:avLst/>
          </a:prstGeom>
        </p:spPr>
      </p:pic>
      <p:sp>
        <p:nvSpPr>
          <p:cNvPr id="4" name="Akış Çizelgesi: Bağlayıcı 3">
            <a:extLst>
              <a:ext uri="{FF2B5EF4-FFF2-40B4-BE49-F238E27FC236}">
                <a16:creationId xmlns:a16="http://schemas.microsoft.com/office/drawing/2014/main" id="{6192980D-C9DF-6F97-1E63-0BAA9F8D18CC}"/>
              </a:ext>
            </a:extLst>
          </p:cNvPr>
          <p:cNvSpPr/>
          <p:nvPr/>
        </p:nvSpPr>
        <p:spPr>
          <a:xfrm>
            <a:off x="67971" y="1986825"/>
            <a:ext cx="2884349" cy="2884349"/>
          </a:xfrm>
          <a:prstGeom prst="flowChartConnector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grpSp>
        <p:nvGrpSpPr>
          <p:cNvPr id="13" name="Grup 12">
            <a:extLst>
              <a:ext uri="{FF2B5EF4-FFF2-40B4-BE49-F238E27FC236}">
                <a16:creationId xmlns:a16="http://schemas.microsoft.com/office/drawing/2014/main" id="{426E0E64-D962-865B-43AD-108A8FC415CD}"/>
              </a:ext>
            </a:extLst>
          </p:cNvPr>
          <p:cNvGrpSpPr/>
          <p:nvPr/>
        </p:nvGrpSpPr>
        <p:grpSpPr>
          <a:xfrm rot="17985329">
            <a:off x="-3264316" y="-307613"/>
            <a:ext cx="7675005" cy="7473226"/>
            <a:chOff x="-3264316" y="-307613"/>
            <a:chExt cx="7675005" cy="7473226"/>
          </a:xfrm>
          <a:solidFill>
            <a:schemeClr val="bg1">
              <a:alpha val="65000"/>
            </a:schemeClr>
          </a:solidFill>
        </p:grpSpPr>
        <p:sp>
          <p:nvSpPr>
            <p:cNvPr id="7" name="Akış Çizelgesi: Bağlayıcı 6">
              <a:extLst>
                <a:ext uri="{FF2B5EF4-FFF2-40B4-BE49-F238E27FC236}">
                  <a16:creationId xmlns:a16="http://schemas.microsoft.com/office/drawing/2014/main" id="{BD421381-8BA5-09D8-D211-8190EE6CE8ED}"/>
                </a:ext>
              </a:extLst>
            </p:cNvPr>
            <p:cNvSpPr/>
            <p:nvPr/>
          </p:nvSpPr>
          <p:spPr>
            <a:xfrm>
              <a:off x="-3264316" y="-307613"/>
              <a:ext cx="7473226" cy="7473226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8" name="Akış Çizelgesi: Bağlayıcı 7">
              <a:extLst>
                <a:ext uri="{FF2B5EF4-FFF2-40B4-BE49-F238E27FC236}">
                  <a16:creationId xmlns:a16="http://schemas.microsoft.com/office/drawing/2014/main" id="{755305BD-D3AB-A258-33EE-2E07C8A06294}"/>
                </a:ext>
              </a:extLst>
            </p:cNvPr>
            <p:cNvSpPr/>
            <p:nvPr/>
          </p:nvSpPr>
          <p:spPr>
            <a:xfrm>
              <a:off x="3716867" y="1785046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9" name="Akış Çizelgesi: Bağlayıcı 8">
              <a:extLst>
                <a:ext uri="{FF2B5EF4-FFF2-40B4-BE49-F238E27FC236}">
                  <a16:creationId xmlns:a16="http://schemas.microsoft.com/office/drawing/2014/main" id="{C0CB1880-A167-9DAD-ED36-B5B2DB55751B}"/>
                </a:ext>
              </a:extLst>
            </p:cNvPr>
            <p:cNvSpPr/>
            <p:nvPr/>
          </p:nvSpPr>
          <p:spPr>
            <a:xfrm>
              <a:off x="4007131" y="3227220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0" name="Akış Çizelgesi: Bağlayıcı 9">
              <a:extLst>
                <a:ext uri="{FF2B5EF4-FFF2-40B4-BE49-F238E27FC236}">
                  <a16:creationId xmlns:a16="http://schemas.microsoft.com/office/drawing/2014/main" id="{5D8589C5-C981-CD4D-F923-5B917BD00804}"/>
                </a:ext>
              </a:extLst>
            </p:cNvPr>
            <p:cNvSpPr/>
            <p:nvPr/>
          </p:nvSpPr>
          <p:spPr>
            <a:xfrm>
              <a:off x="3716867" y="4629901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1" name="Akış Çizelgesi: Bağlayıcı 10">
              <a:extLst>
                <a:ext uri="{FF2B5EF4-FFF2-40B4-BE49-F238E27FC236}">
                  <a16:creationId xmlns:a16="http://schemas.microsoft.com/office/drawing/2014/main" id="{2FA25030-90EA-9313-1CC4-1D5306F862A9}"/>
                </a:ext>
              </a:extLst>
            </p:cNvPr>
            <p:cNvSpPr/>
            <p:nvPr/>
          </p:nvSpPr>
          <p:spPr>
            <a:xfrm>
              <a:off x="3154867" y="5614835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2" name="Akış Çizelgesi: Bağlayıcı 11">
              <a:extLst>
                <a:ext uri="{FF2B5EF4-FFF2-40B4-BE49-F238E27FC236}">
                  <a16:creationId xmlns:a16="http://schemas.microsoft.com/office/drawing/2014/main" id="{5E7E7786-F08F-4352-0A40-B721C90A0BFA}"/>
                </a:ext>
              </a:extLst>
            </p:cNvPr>
            <p:cNvSpPr/>
            <p:nvPr/>
          </p:nvSpPr>
          <p:spPr>
            <a:xfrm>
              <a:off x="3154867" y="839606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</p:grp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8D09CF9E-B917-49A3-B04D-594E869ADC8F}"/>
              </a:ext>
            </a:extLst>
          </p:cNvPr>
          <p:cNvSpPr txBox="1"/>
          <p:nvPr/>
        </p:nvSpPr>
        <p:spPr>
          <a:xfrm>
            <a:off x="1171529" y="116413"/>
            <a:ext cx="101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Farkımız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76EEFF50-DB22-1009-AF5A-A533C8438099}"/>
              </a:ext>
            </a:extLst>
          </p:cNvPr>
          <p:cNvSpPr txBox="1"/>
          <p:nvPr/>
        </p:nvSpPr>
        <p:spPr>
          <a:xfrm>
            <a:off x="1299154" y="693834"/>
            <a:ext cx="1819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Detaylı</a:t>
            </a:r>
            <a:r>
              <a:rPr lang="tr-T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r>
              <a:rPr lang="tr-TR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Anlatım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6881E7D2-170F-6D50-6F6A-BA3AD9B1B0CD}"/>
              </a:ext>
            </a:extLst>
          </p:cNvPr>
          <p:cNvSpPr txBox="1"/>
          <p:nvPr/>
        </p:nvSpPr>
        <p:spPr>
          <a:xfrm>
            <a:off x="2890191" y="2012842"/>
            <a:ext cx="77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Devre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E1062FD3-D8E3-1592-7903-56D5D9CF5FBF}"/>
              </a:ext>
            </a:extLst>
          </p:cNvPr>
          <p:cNvSpPr txBox="1"/>
          <p:nvPr/>
        </p:nvSpPr>
        <p:spPr>
          <a:xfrm>
            <a:off x="-869520" y="-384585"/>
            <a:ext cx="1851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Çözüm Önerisi</a:t>
            </a:r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0412D454-6860-D6F2-E69C-71EC358A0B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1" y="1986823"/>
            <a:ext cx="2884349" cy="2884349"/>
          </a:xfrm>
          <a:prstGeom prst="rect">
            <a:avLst/>
          </a:prstGeom>
        </p:spPr>
      </p:pic>
      <p:sp>
        <p:nvSpPr>
          <p:cNvPr id="26" name="Metin kutusu 25">
            <a:extLst>
              <a:ext uri="{FF2B5EF4-FFF2-40B4-BE49-F238E27FC236}">
                <a16:creationId xmlns:a16="http://schemas.microsoft.com/office/drawing/2014/main" id="{07BF4BFA-7369-B1A1-59C1-C5BDF05567AA}"/>
              </a:ext>
            </a:extLst>
          </p:cNvPr>
          <p:cNvSpPr txBox="1"/>
          <p:nvPr/>
        </p:nvSpPr>
        <p:spPr>
          <a:xfrm>
            <a:off x="4947113" y="-19054302"/>
            <a:ext cx="666084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Bir Sorunumuz Var: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2019´dan bu yana 100 binden fazla insan,</a:t>
            </a: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hatalı ilaç kullanımı sebebiyle hayatını kaybetti…</a:t>
            </a: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Bu kayıpların büyük çoğunluğu ilaçların yanlış dozda veya düzensiz bir şekilde tüketilmesi sebebiyle yaşanıyor.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355F268B-4175-037C-A2CA-94DD260728A5}"/>
              </a:ext>
            </a:extLst>
          </p:cNvPr>
          <p:cNvSpPr txBox="1"/>
          <p:nvPr/>
        </p:nvSpPr>
        <p:spPr>
          <a:xfrm>
            <a:off x="-1560369" y="-391380"/>
            <a:ext cx="2884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Problem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2C7A75A-D0FB-AD02-0F97-B5F441479ADF}"/>
              </a:ext>
            </a:extLst>
          </p:cNvPr>
          <p:cNvSpPr txBox="1"/>
          <p:nvPr/>
        </p:nvSpPr>
        <p:spPr>
          <a:xfrm>
            <a:off x="4947112" y="-7586954"/>
            <a:ext cx="66608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Sıradan Bir Kutu mu?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Akıllı Şifa Kutusu;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Sadece bir ilaç </a:t>
            </a:r>
            <a:r>
              <a:rPr lang="tr-T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organizeri</a:t>
            </a: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 değil, kullanım zamanını hatırlayan, sizi tanıyan ve size değer veren bir mini-eczacıdır.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43861B86-F92E-96F5-5117-7C7D2161B364}"/>
              </a:ext>
            </a:extLst>
          </p:cNvPr>
          <p:cNvSpPr txBox="1"/>
          <p:nvPr/>
        </p:nvSpPr>
        <p:spPr>
          <a:xfrm>
            <a:off x="4947111" y="-6299905"/>
            <a:ext cx="66608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İşte Çözüm!!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Akıllı Şifa Kutusu;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Dünyanın her yerindeki hastalara, ilaç takibini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kolaylaştırmayı vadediyor. İlacınızın vakti geldiği zaman, bırakın o sizin yerinize hatırlasın.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47354284-9F80-5F09-18D6-37AB3DC4F26E}"/>
              </a:ext>
            </a:extLst>
          </p:cNvPr>
          <p:cNvSpPr txBox="1"/>
          <p:nvPr/>
        </p:nvSpPr>
        <p:spPr>
          <a:xfrm>
            <a:off x="6095998" y="205121"/>
            <a:ext cx="50207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Özellikler: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İlaç sayısı ve saatleri özel klavye ile ürüne girilir,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Doğru vakitte öterek ve ışık açıp kapatarak kullanıcıyı bildirir,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Kullanılacak ilacın kapağı açılır.</a:t>
            </a:r>
          </a:p>
        </p:txBody>
      </p:sp>
    </p:spTree>
    <p:extLst>
      <p:ext uri="{BB962C8B-B14F-4D97-AF65-F5344CB8AC3E}">
        <p14:creationId xmlns:p14="http://schemas.microsoft.com/office/powerpoint/2010/main" val="40329484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6FC3F-EC90-A7F9-C67C-E63C8DFD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Resim 21">
            <a:extLst>
              <a:ext uri="{FF2B5EF4-FFF2-40B4-BE49-F238E27FC236}">
                <a16:creationId xmlns:a16="http://schemas.microsoft.com/office/drawing/2014/main" id="{8088CE67-A1B7-2EA7-810B-E33D9D449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436" y="-6665883"/>
            <a:ext cx="5332095" cy="685800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511B8E80-FF88-F64E-4FBB-E39D184338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816" y="-6678459"/>
            <a:ext cx="7570635" cy="7570635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D6A0E213-F5C2-A23C-1F90-EDEA2D5157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514" y="0"/>
            <a:ext cx="13493577" cy="6858000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81E32F48-CF59-D260-67AD-11A399D524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17" y="-14181931"/>
            <a:ext cx="12192001" cy="8120016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:a16="http://schemas.microsoft.com/office/drawing/2014/main" id="{41250730-934C-F994-1619-3CC4B2D5D7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-22596521"/>
            <a:ext cx="12192000" cy="6870700"/>
          </a:xfrm>
          <a:prstGeom prst="rect">
            <a:avLst/>
          </a:prstGeom>
        </p:spPr>
      </p:pic>
      <p:sp>
        <p:nvSpPr>
          <p:cNvPr id="4" name="Akış Çizelgesi: Bağlayıcı 3">
            <a:extLst>
              <a:ext uri="{FF2B5EF4-FFF2-40B4-BE49-F238E27FC236}">
                <a16:creationId xmlns:a16="http://schemas.microsoft.com/office/drawing/2014/main" id="{132EBD0B-631D-10A7-42C5-364F55779B7D}"/>
              </a:ext>
            </a:extLst>
          </p:cNvPr>
          <p:cNvSpPr/>
          <p:nvPr/>
        </p:nvSpPr>
        <p:spPr>
          <a:xfrm>
            <a:off x="67971" y="1986825"/>
            <a:ext cx="2884349" cy="2884349"/>
          </a:xfrm>
          <a:prstGeom prst="flowChartConnector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grpSp>
        <p:nvGrpSpPr>
          <p:cNvPr id="13" name="Grup 12">
            <a:extLst>
              <a:ext uri="{FF2B5EF4-FFF2-40B4-BE49-F238E27FC236}">
                <a16:creationId xmlns:a16="http://schemas.microsoft.com/office/drawing/2014/main" id="{F5F3408D-9FF5-7E51-9B20-F6386F174851}"/>
              </a:ext>
            </a:extLst>
          </p:cNvPr>
          <p:cNvGrpSpPr/>
          <p:nvPr/>
        </p:nvGrpSpPr>
        <p:grpSpPr>
          <a:xfrm rot="16728116">
            <a:off x="-3441442" y="-241242"/>
            <a:ext cx="7675005" cy="7473226"/>
            <a:chOff x="-3264316" y="-307613"/>
            <a:chExt cx="7675005" cy="7473226"/>
          </a:xfrm>
          <a:solidFill>
            <a:schemeClr val="bg1">
              <a:alpha val="65000"/>
            </a:schemeClr>
          </a:solidFill>
        </p:grpSpPr>
        <p:sp>
          <p:nvSpPr>
            <p:cNvPr id="7" name="Akış Çizelgesi: Bağlayıcı 6">
              <a:extLst>
                <a:ext uri="{FF2B5EF4-FFF2-40B4-BE49-F238E27FC236}">
                  <a16:creationId xmlns:a16="http://schemas.microsoft.com/office/drawing/2014/main" id="{B105F4C5-FCDA-C903-57A5-2BF560F32E39}"/>
                </a:ext>
              </a:extLst>
            </p:cNvPr>
            <p:cNvSpPr/>
            <p:nvPr/>
          </p:nvSpPr>
          <p:spPr>
            <a:xfrm>
              <a:off x="-3264316" y="-307613"/>
              <a:ext cx="7473226" cy="7473226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/>
            </a:p>
          </p:txBody>
        </p:sp>
        <p:sp>
          <p:nvSpPr>
            <p:cNvPr id="8" name="Akış Çizelgesi: Bağlayıcı 7">
              <a:extLst>
                <a:ext uri="{FF2B5EF4-FFF2-40B4-BE49-F238E27FC236}">
                  <a16:creationId xmlns:a16="http://schemas.microsoft.com/office/drawing/2014/main" id="{DB26141B-A6B0-6F05-85B6-82DF3507D89B}"/>
                </a:ext>
              </a:extLst>
            </p:cNvPr>
            <p:cNvSpPr/>
            <p:nvPr/>
          </p:nvSpPr>
          <p:spPr>
            <a:xfrm>
              <a:off x="3716867" y="1785046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9" name="Akış Çizelgesi: Bağlayıcı 8">
              <a:extLst>
                <a:ext uri="{FF2B5EF4-FFF2-40B4-BE49-F238E27FC236}">
                  <a16:creationId xmlns:a16="http://schemas.microsoft.com/office/drawing/2014/main" id="{E40399B7-F6DD-6BA5-BA0C-E740DB0F55B0}"/>
                </a:ext>
              </a:extLst>
            </p:cNvPr>
            <p:cNvSpPr/>
            <p:nvPr/>
          </p:nvSpPr>
          <p:spPr>
            <a:xfrm>
              <a:off x="4007131" y="3227220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0" name="Akış Çizelgesi: Bağlayıcı 9">
              <a:extLst>
                <a:ext uri="{FF2B5EF4-FFF2-40B4-BE49-F238E27FC236}">
                  <a16:creationId xmlns:a16="http://schemas.microsoft.com/office/drawing/2014/main" id="{25CE03F3-337B-383D-91F0-3D5727C29727}"/>
                </a:ext>
              </a:extLst>
            </p:cNvPr>
            <p:cNvSpPr/>
            <p:nvPr/>
          </p:nvSpPr>
          <p:spPr>
            <a:xfrm>
              <a:off x="3716867" y="4629901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1" name="Akış Çizelgesi: Bağlayıcı 10">
              <a:extLst>
                <a:ext uri="{FF2B5EF4-FFF2-40B4-BE49-F238E27FC236}">
                  <a16:creationId xmlns:a16="http://schemas.microsoft.com/office/drawing/2014/main" id="{817131B1-D189-9434-7306-FF003E827524}"/>
                </a:ext>
              </a:extLst>
            </p:cNvPr>
            <p:cNvSpPr/>
            <p:nvPr/>
          </p:nvSpPr>
          <p:spPr>
            <a:xfrm>
              <a:off x="3154867" y="5614835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  <p:sp>
          <p:nvSpPr>
            <p:cNvPr id="12" name="Akış Çizelgesi: Bağlayıcı 11">
              <a:extLst>
                <a:ext uri="{FF2B5EF4-FFF2-40B4-BE49-F238E27FC236}">
                  <a16:creationId xmlns:a16="http://schemas.microsoft.com/office/drawing/2014/main" id="{BD37B905-CF5A-DE95-3E2F-651A4E3ED84B}"/>
                </a:ext>
              </a:extLst>
            </p:cNvPr>
            <p:cNvSpPr/>
            <p:nvPr/>
          </p:nvSpPr>
          <p:spPr>
            <a:xfrm>
              <a:off x="3154867" y="839606"/>
              <a:ext cx="403558" cy="403558"/>
            </a:xfrm>
            <a:prstGeom prst="flowChartConnector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tr-TR" dirty="0"/>
            </a:p>
          </p:txBody>
        </p:sp>
      </p:grp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2B183AB0-208E-9203-74E8-E617BB95A8CE}"/>
              </a:ext>
            </a:extLst>
          </p:cNvPr>
          <p:cNvSpPr txBox="1"/>
          <p:nvPr/>
        </p:nvSpPr>
        <p:spPr>
          <a:xfrm>
            <a:off x="663505" y="-2221937"/>
            <a:ext cx="101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Farkımız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E7C2AFCB-DD00-AF1E-F38B-111D45D94BDA}"/>
              </a:ext>
            </a:extLst>
          </p:cNvPr>
          <p:cNvSpPr txBox="1"/>
          <p:nvPr/>
        </p:nvSpPr>
        <p:spPr>
          <a:xfrm>
            <a:off x="797706" y="102882"/>
            <a:ext cx="970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Detaylı 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Anlatım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837ACCE2-EBB6-323A-058A-DF29B97A098D}"/>
              </a:ext>
            </a:extLst>
          </p:cNvPr>
          <p:cNvSpPr txBox="1"/>
          <p:nvPr/>
        </p:nvSpPr>
        <p:spPr>
          <a:xfrm>
            <a:off x="1483406" y="734832"/>
            <a:ext cx="1408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Devre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B17FB60D-BF31-8FBE-F211-D8DB5D9A9C03}"/>
              </a:ext>
            </a:extLst>
          </p:cNvPr>
          <p:cNvSpPr txBox="1"/>
          <p:nvPr/>
        </p:nvSpPr>
        <p:spPr>
          <a:xfrm>
            <a:off x="-1319029" y="-2893141"/>
            <a:ext cx="1851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Çözüm Önerisi</a:t>
            </a:r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46E09B92-2334-0413-5200-AAFC5642C5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09" y="1984077"/>
            <a:ext cx="2884349" cy="2884349"/>
          </a:xfrm>
          <a:prstGeom prst="rect">
            <a:avLst/>
          </a:prstGeom>
        </p:spPr>
      </p:pic>
      <p:sp>
        <p:nvSpPr>
          <p:cNvPr id="26" name="Metin kutusu 25">
            <a:extLst>
              <a:ext uri="{FF2B5EF4-FFF2-40B4-BE49-F238E27FC236}">
                <a16:creationId xmlns:a16="http://schemas.microsoft.com/office/drawing/2014/main" id="{8D654FBF-05D7-F3FC-B065-92DA08552408}"/>
              </a:ext>
            </a:extLst>
          </p:cNvPr>
          <p:cNvSpPr txBox="1"/>
          <p:nvPr/>
        </p:nvSpPr>
        <p:spPr>
          <a:xfrm>
            <a:off x="4947113" y="-19054302"/>
            <a:ext cx="666084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Bir Sorunumuz Var: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2019´dan bu yana 100 binden fazla insan,</a:t>
            </a: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hatalı ilaç kullanımı sebebiyle hayatını kaybetti…</a:t>
            </a: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Bu kayıpların büyük çoğunluğu ilaçların yanlış dozda veya düzensiz bir şekilde tüketilmesi sebebiyle yaşanıyor.</a:t>
            </a: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848F688A-D027-01A7-16C5-73EA70ADAE62}"/>
              </a:ext>
            </a:extLst>
          </p:cNvPr>
          <p:cNvSpPr txBox="1"/>
          <p:nvPr/>
        </p:nvSpPr>
        <p:spPr>
          <a:xfrm>
            <a:off x="-1712819" y="-2862034"/>
            <a:ext cx="2884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Problem</a:t>
            </a: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E678F23A-1750-8C4B-9F64-44D47D042E8D}"/>
              </a:ext>
            </a:extLst>
          </p:cNvPr>
          <p:cNvSpPr txBox="1"/>
          <p:nvPr/>
        </p:nvSpPr>
        <p:spPr>
          <a:xfrm>
            <a:off x="4947112" y="-15174524"/>
            <a:ext cx="66608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Sıradan Bir Kutu mu?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Akıllı Şifa Kutusu;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Sadece bir ilaç </a:t>
            </a:r>
            <a:r>
              <a:rPr lang="tr-T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organizeri</a:t>
            </a: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 değil, kullanım zamanını hatırlayan, sizi tanıyan ve size değer veren bir mini-eczacıdır.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7C01557A-D501-5878-3DAB-3F8143583828}"/>
              </a:ext>
            </a:extLst>
          </p:cNvPr>
          <p:cNvSpPr txBox="1"/>
          <p:nvPr/>
        </p:nvSpPr>
        <p:spPr>
          <a:xfrm>
            <a:off x="4947111" y="-13887475"/>
            <a:ext cx="66608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İşte Çözüm!!</a:t>
            </a: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tr-TR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Akıllı Şifa Kutusu;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Dünyanın her yerindeki hastalara, ilaç takibini</a:t>
            </a:r>
          </a:p>
          <a:p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kolaylaştırmayı vadediyor. İlacınızın vakti geldiği zaman, bırakın o sizin yerinize hatırlasın.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D2DCE0E2-9CBD-AFC1-C2DF-7CAA8752D668}"/>
              </a:ext>
            </a:extLst>
          </p:cNvPr>
          <p:cNvSpPr txBox="1"/>
          <p:nvPr/>
        </p:nvSpPr>
        <p:spPr>
          <a:xfrm>
            <a:off x="6095998" y="-7382449"/>
            <a:ext cx="50207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Özellikler: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İlaç sayısı ve saatleri özel klavye ile ürüne girilir,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Doğru vakitte öterek ve ışık açıp kapatarak kullanıcıyı bildirir,</a:t>
            </a:r>
          </a:p>
          <a:p>
            <a:r>
              <a:rPr lang="tr-TR" dirty="0">
                <a:latin typeface="Segoe UI" panose="020B0502040204020203" pitchFamily="34" charset="0"/>
                <a:cs typeface="Segoe UI" panose="020B0502040204020203" pitchFamily="34" charset="0"/>
              </a:rPr>
              <a:t>Kullanılacak ilacın kapağı açılır.</a:t>
            </a:r>
          </a:p>
        </p:txBody>
      </p:sp>
    </p:spTree>
    <p:extLst>
      <p:ext uri="{BB962C8B-B14F-4D97-AF65-F5344CB8AC3E}">
        <p14:creationId xmlns:p14="http://schemas.microsoft.com/office/powerpoint/2010/main" val="20379878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2.96296E-6 L -0.36146 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07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22222E-6 L -0.40937 -0.1407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69" y="-703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33333E-6 L -0.31992 0.0087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3" y="44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96296E-6 L -0.29024 0.00717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05" y="34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0 L -0.31888 0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93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4CE3-C830-38F8-E3C4-D8D9935C0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87261381-6934-F76C-A357-D02901D5AD46}"/>
              </a:ext>
            </a:extLst>
          </p:cNvPr>
          <p:cNvSpPr txBox="1"/>
          <p:nvPr/>
        </p:nvSpPr>
        <p:spPr>
          <a:xfrm>
            <a:off x="3940408" y="414510"/>
            <a:ext cx="4598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Takım Adı: Takım Şifa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2FE8EE69-F335-577C-1C3B-27B85FFA7606}"/>
              </a:ext>
            </a:extLst>
          </p:cNvPr>
          <p:cNvSpPr txBox="1"/>
          <p:nvPr/>
        </p:nvSpPr>
        <p:spPr>
          <a:xfrm>
            <a:off x="3647360" y="1445850"/>
            <a:ext cx="518434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800" u="sng" dirty="0">
                <a:latin typeface="Segoe UI" panose="020B0502040204020203" pitchFamily="34" charset="0"/>
                <a:cs typeface="Segoe UI" panose="020B0502040204020203" pitchFamily="34" charset="0"/>
              </a:rPr>
              <a:t>Emeği geçenler:</a:t>
            </a:r>
          </a:p>
          <a:p>
            <a:pPr algn="ctr"/>
            <a:endParaRPr lang="tr-TR" sz="2800" dirty="0"/>
          </a:p>
          <a:p>
            <a:pPr algn="ctr"/>
            <a:r>
              <a:rPr lang="tr-TR" sz="240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Yusuf Ege Türedi: </a:t>
            </a:r>
            <a:r>
              <a:rPr lang="tr-TR" sz="24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Sunu Tasarım</a:t>
            </a:r>
          </a:p>
          <a:p>
            <a:pPr algn="ctr"/>
            <a:r>
              <a:rPr lang="tr-TR" sz="240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Ozan Çakmakçı: </a:t>
            </a:r>
            <a:r>
              <a:rPr lang="tr-TR" sz="24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Görsel Tasarım</a:t>
            </a:r>
          </a:p>
          <a:p>
            <a:pPr algn="ctr"/>
            <a:r>
              <a:rPr lang="tr-TR" sz="240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Bilal Ekrem Öz: </a:t>
            </a:r>
            <a:r>
              <a:rPr lang="tr-TR" sz="24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Devre Tasarım</a:t>
            </a:r>
          </a:p>
        </p:txBody>
      </p:sp>
      <p:pic>
        <p:nvPicPr>
          <p:cNvPr id="28" name="Resim 27">
            <a:extLst>
              <a:ext uri="{FF2B5EF4-FFF2-40B4-BE49-F238E27FC236}">
                <a16:creationId xmlns:a16="http://schemas.microsoft.com/office/drawing/2014/main" id="{37BF3020-C0AD-1DE4-3EAC-F20F01C63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356" y="3507953"/>
            <a:ext cx="3180347" cy="318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709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632</Words>
  <Application>Microsoft Office PowerPoint</Application>
  <PresentationFormat>Geniş ekran</PresentationFormat>
  <Paragraphs>81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Segoe UI Semibold</vt:lpstr>
      <vt:lpstr>Office Teması</vt:lpstr>
      <vt:lpstr>Akıllı İlaç Kutusu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 Yusufi</dc:creator>
  <cp:lastModifiedBy>Just Yusufi</cp:lastModifiedBy>
  <cp:revision>2</cp:revision>
  <dcterms:created xsi:type="dcterms:W3CDTF">2026-02-07T06:49:59Z</dcterms:created>
  <dcterms:modified xsi:type="dcterms:W3CDTF">2026-02-07T08:29:53Z</dcterms:modified>
</cp:coreProperties>
</file>